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C7D0D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Smoking History</c:v>
                </c:pt>
                <c:pt idx="1">
                  <c:v>Heart Disease Hx</c:v>
                </c:pt>
                <c:pt idx="2">
                  <c:v>Hypertension</c:v>
                </c:pt>
                <c:pt idx="3">
                  <c:v>HbA1c Level</c:v>
                </c:pt>
                <c:pt idx="4">
                  <c:v>Age</c:v>
                </c:pt>
                <c:pt idx="5">
                  <c:v>BMI</c:v>
                </c:pt>
                <c:pt idx="6">
                  <c:v>Blood Glucose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5.5E-2</c:v>
                </c:pt>
                <c:pt idx="1">
                  <c:v>8.8999999999999996E-2</c:v>
                </c:pt>
                <c:pt idx="2">
                  <c:v>0.14299999999999999</c:v>
                </c:pt>
                <c:pt idx="3">
                  <c:v>0.19400000000000001</c:v>
                </c:pt>
                <c:pt idx="4">
                  <c:v>0.24099999999999999</c:v>
                </c:pt>
                <c:pt idx="5">
                  <c:v>0.29799999999999999</c:v>
                </c:pt>
                <c:pt idx="6">
                  <c:v>0.34200000000000003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6A-4BD7-9127-AD8FAE822A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E2A4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D0D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1E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E2A4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8A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B1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70B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1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6217920" cy="6217920"/>
          </a:xfrm>
          <a:prstGeom prst="ellipse">
            <a:avLst/>
          </a:prstGeom>
          <a:solidFill>
            <a:srgbClr val="00D4AA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27709" y="-1602029"/>
            <a:ext cx="4849978" cy="4849978"/>
          </a:xfrm>
          <a:prstGeom prst="ellipse">
            <a:avLst/>
          </a:prstGeom>
          <a:solidFill>
            <a:srgbClr val="00D4AA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643738" y="-918058"/>
            <a:ext cx="3482035" cy="3482035"/>
          </a:xfrm>
          <a:prstGeom prst="ellipse">
            <a:avLst/>
          </a:prstGeom>
          <a:solidFill>
            <a:srgbClr val="00D4AA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21946" y="-296266"/>
            <a:ext cx="2238451" cy="2238451"/>
          </a:xfrm>
          <a:prstGeom prst="ellipse">
            <a:avLst/>
          </a:prstGeom>
          <a:solidFill>
            <a:srgbClr val="00D4AA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7667" y="263347"/>
            <a:ext cx="1119226" cy="1119226"/>
          </a:xfrm>
          <a:prstGeom prst="ellipse">
            <a:avLst/>
          </a:prstGeom>
          <a:solidFill>
            <a:srgbClr val="00D4AA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0" y="3108960"/>
            <a:ext cx="6583680" cy="6583680"/>
          </a:xfrm>
          <a:prstGeom prst="ellipse">
            <a:avLst/>
          </a:prstGeom>
          <a:solidFill>
            <a:srgbClr val="6C63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53805" y="3833165"/>
            <a:ext cx="5135270" cy="5135270"/>
          </a:xfrm>
          <a:prstGeom prst="ellipse">
            <a:avLst/>
          </a:prstGeom>
          <a:solidFill>
            <a:srgbClr val="6C63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78010" y="4557370"/>
            <a:ext cx="3686861" cy="3686861"/>
          </a:xfrm>
          <a:prstGeom prst="ellipse">
            <a:avLst/>
          </a:prstGeom>
          <a:solidFill>
            <a:srgbClr val="6C63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336378" y="5215738"/>
            <a:ext cx="2370125" cy="2370125"/>
          </a:xfrm>
          <a:prstGeom prst="ellipse">
            <a:avLst/>
          </a:prstGeom>
          <a:solidFill>
            <a:srgbClr val="6C63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28909" y="5808269"/>
            <a:ext cx="1185062" cy="1185062"/>
          </a:xfrm>
          <a:prstGeom prst="ellipse">
            <a:avLst/>
          </a:prstGeom>
          <a:solidFill>
            <a:srgbClr val="6C63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89888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31136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72384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13632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96128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37376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78624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19872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61120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02368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643616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484864" y="6263640"/>
            <a:ext cx="32004" cy="32004"/>
          </a:xfrm>
          <a:prstGeom prst="ellipse">
            <a:avLst/>
          </a:prstGeom>
          <a:solidFill>
            <a:srgbClr val="00D4A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1051560"/>
            <a:ext cx="3931920" cy="420624"/>
          </a:xfrm>
          <a:prstGeom prst="roundRect">
            <a:avLst>
              <a:gd name="adj" fmla="val 50000"/>
            </a:avLst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1051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·  MACHINE LEARNING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NovaGen Research Labs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Disease Prediction </a:t>
            </a: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822960" y="333756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framework for clinical disease prediction — data preprocessing, ensemble modelling, Optuna hyperparameter optimization, threshold calibration, and SHAP-driven explainability.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22960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4562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94.2%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22960" y="5093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56432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56432" y="4562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456432" y="5093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9904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9904" y="4562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089904" y="5093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723376" y="44348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723376" y="4562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8723376" y="5093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</a:t>
            </a:r>
            <a:r>
              <a:rPr lang="en-US" sz="12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github.com/erharshkumar   ·   harshkumar.in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 face growing challenges in making timely diagnoses as patient data volume and complexity increase. Manual analysis is time-consuming and susceptible to human error — delays and inconsistencies that directly affect patient outcomes.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4050792"/>
            <a:ext cx="4709160" cy="9144"/>
          </a:xfrm>
          <a:prstGeom prst="rect">
            <a:avLst/>
          </a:prstGeom>
          <a:solidFill>
            <a:srgbClr val="1E2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gap with a machine-learning-based predictive system that assists healthcare professionals in identifying disease risk more accurately and efficiently — without replacing clinical judgment.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72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1911096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robust, reliable disease prediction model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9174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6248" y="2409444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machine learning algorithms fairly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900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56248" y="290779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performance through Bayesian hyperparameter tuning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488436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56248" y="3406140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multiple classification metrics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86784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56248" y="3904488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reliability through stratified cross-validation</a:t>
            </a:r>
            <a:endParaRPr lang="en-US" sz="13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48513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556248" y="4402836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decisions using Explainable AI (SHAP)</a:t>
            </a:r>
            <a:endParaRPr lang="en-US" sz="13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983480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56248" y="4901184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influential clinical features</a:t>
            </a:r>
            <a:endParaRPr lang="en-US" sz="13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481828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556248" y="539953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framework suitable for deployment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28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0720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8503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19110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4688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Measurements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280720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blood glucose, HbA1c level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6539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9110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24688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History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65392" y="280720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heart disease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50876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44575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91109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45752" y="24688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Factors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45752" y="2807208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history, activity level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22960" y="37033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indicator of disease presence or absence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INSPECTION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4956048"/>
            <a:ext cx="1556309" cy="45720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0657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5840" y="4956048"/>
            <a:ext cx="1053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2269541" y="4956048"/>
            <a:ext cx="1811426" cy="45720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5845" y="506577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26741" y="4956048"/>
            <a:ext cx="1308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4245559" y="4956048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1863" y="5065776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02759" y="495604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inconsistencies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476695" y="4956048"/>
            <a:ext cx="2151583" cy="45720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999" y="5065776"/>
            <a:ext cx="237744" cy="23774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33895" y="4956048"/>
            <a:ext cx="1648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8792870" y="4956048"/>
            <a:ext cx="1641348" cy="45720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174" y="5065776"/>
            <a:ext cx="237744" cy="23774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250070" y="4956048"/>
            <a:ext cx="1138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50" dirty="0"/>
          </a:p>
        </p:txBody>
      </p:sp>
      <p:sp>
        <p:nvSpPr>
          <p:cNvPr id="42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ML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97480" y="1856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9748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939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4672" y="3008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Pandas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5848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04688" y="1856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046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11880" y="1947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209397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11880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11880" y="3008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encode, scale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63056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311896" y="1856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311896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19088" y="1947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209397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19088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19088" y="3008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&amp; correlations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70264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1119104" y="1856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11119104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226296" y="1947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09397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26296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226296" y="3008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ablation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2697480" y="4142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2697480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37997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937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804672" y="5294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compared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55848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5504688" y="4142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5504688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611880" y="4233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184" y="4379976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11880" y="4937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45" name="Text 37"/>
          <p:cNvSpPr/>
          <p:nvPr/>
        </p:nvSpPr>
        <p:spPr>
          <a:xfrm>
            <a:off x="3611880" y="5294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+ Cross-Validation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63056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8311896" y="4142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8311896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6419088" y="4233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4379976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19088" y="4937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52" name="Text 43"/>
          <p:cNvSpPr/>
          <p:nvPr/>
        </p:nvSpPr>
        <p:spPr>
          <a:xfrm>
            <a:off x="6419088" y="5294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importance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8970264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45"/>
          <p:cNvSpPr/>
          <p:nvPr/>
        </p:nvSpPr>
        <p:spPr>
          <a:xfrm>
            <a:off x="11119104" y="4142232"/>
            <a:ext cx="292608" cy="292608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/>
          <p:nvPr/>
        </p:nvSpPr>
        <p:spPr>
          <a:xfrm>
            <a:off x="11119104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9226296" y="4233672"/>
            <a:ext cx="548640" cy="548640"/>
          </a:xfrm>
          <a:prstGeom prst="ellipse">
            <a:avLst/>
          </a:prstGeom>
          <a:solidFill>
            <a:srgbClr val="6C63FF">
              <a:alpha val="14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0" y="4379976"/>
            <a:ext cx="256032" cy="25603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9226296" y="4937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59" name="Text 49"/>
          <p:cNvSpPr/>
          <p:nvPr/>
        </p:nvSpPr>
        <p:spPr>
          <a:xfrm>
            <a:off x="9226296" y="52943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Threshold-tuned metrics</a:t>
            </a:r>
            <a:endParaRPr lang="en-US" sz="1100" dirty="0"/>
          </a:p>
        </p:txBody>
      </p:sp>
      <p:sp>
        <p:nvSpPr>
          <p:cNvPr id="60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24414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11B30"/>
          </a:solidFill>
          <a:ln w="9525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27889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2918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 — fast and interpretable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150876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8503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1911096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85032" y="24414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11B30"/>
          </a:solidFill>
          <a:ln w="9525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685032" y="2441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685032" y="27889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85032" y="32918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Distance-based, captures local patterns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09360" y="150876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6539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911096"/>
            <a:ext cx="274320" cy="2743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65392" y="24414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11B30"/>
          </a:solidFill>
          <a:ln w="9525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565392" y="2441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6565392" y="27889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565392" y="32918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— high robustness, reduces overfitting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189720" y="1508760"/>
            <a:ext cx="2697480" cy="2331720"/>
          </a:xfrm>
          <a:prstGeom prst="roundRect">
            <a:avLst>
              <a:gd name="adj" fmla="val 3529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445752" y="1764792"/>
            <a:ext cx="566928" cy="566928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1911096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445752" y="24414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11B30"/>
          </a:solidFill>
          <a:ln w="9525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9445752" y="2441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9445752" y="27889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445752" y="329184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ensemble — strong generalization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48640" y="4096512"/>
            <a:ext cx="11338560" cy="960120"/>
          </a:xfrm>
          <a:prstGeom prst="roundRect">
            <a:avLst>
              <a:gd name="adj" fmla="val 8571"/>
            </a:avLst>
          </a:prstGeom>
          <a:solidFill>
            <a:srgbClr val="00D4AA">
              <a:alpha val="10000"/>
            </a:srgbClr>
          </a:solidFill>
          <a:ln w="15875">
            <a:solidFill>
              <a:srgbClr val="00D4AA">
                <a:alpha val="7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361688"/>
            <a:ext cx="438912" cy="4389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463040" y="4096512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Classifier  </a:t>
            </a: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combines all models via soft voting for better stability, higher accuracy,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robustness, and reduced variance across predictions.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Optimization &amp; Cross-Validation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385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 HYPERPARAMETER SEARCH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default model settings or exhaustive grid search, Optuna's Bayesian optimization (TPE sampler) was used to search each model's hyperparameter space efficiently.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36027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 accuracy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965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4164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generalization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3542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44805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experimentation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172200" y="155448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7452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86600" y="19385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K-FOLD CROSS-VALIDATION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492240" y="2560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reliable performance estimation and prevent overfitting to a single train-test split, Stratified 5-Fold Cross-Validation was applied — preserving class ratio in every fold.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657600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30568" y="36027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</a:t>
            </a:r>
            <a:endParaRPr lang="en-US" sz="12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096512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30568" y="404164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unbiased evaluation</a:t>
            </a:r>
            <a:endParaRPr lang="en-US" sz="12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535424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30568" y="44805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efficient use of available data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Test Performance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246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7C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C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C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C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C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C8A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Classifier  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D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6C63FF">
              <a:alpha val="10000"/>
            </a:srgbClr>
          </a:solidFill>
          <a:ln w="12700">
            <a:solidFill>
              <a:srgbClr val="6C63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85816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507492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Voting Classifier (soft-voting across Logistic Regression, Random Forest, and Gradient Boosting) outperforms every individual model on all five metrics, with a 1.4-point accuracy gain over the next-best model and lower variance across cross-validation folds.</a:t>
            </a:r>
            <a:endParaRPr lang="en-US" sz="1250" dirty="0"/>
          </a:p>
        </p:txBody>
      </p:sp>
      <p:sp>
        <p:nvSpPr>
          <p:cNvPr id="4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Optimization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0.50 decision threshold optimizes for balanced precision–recall — the wrong objective for clinical disease prediction, where missing a true positive case is far costlier than a false alarm.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Precision–Recall curve was used to identify the threshold that maximizes Recall while keeping Precision above a clinically acceptable floor — replacing the arbitrary 0.5 cutoff most classifiers ship with by default.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947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42519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Precision balance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47091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False Negatives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1208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51663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medical decision support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7178040" y="1554480"/>
            <a:ext cx="4462272" cy="4343400"/>
          </a:xfrm>
          <a:prstGeom prst="roundRect">
            <a:avLst>
              <a:gd name="adj" fmla="val 2105"/>
            </a:avLst>
          </a:prstGeom>
          <a:solidFill>
            <a:srgbClr val="0E1526"/>
          </a:solidFill>
          <a:ln w="15875">
            <a:solidFill>
              <a:srgbClr val="F5A623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196596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2834640"/>
            <a:ext cx="4462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5400" dirty="0"/>
          </a:p>
        </p:txBody>
      </p:sp>
      <p:sp>
        <p:nvSpPr>
          <p:cNvPr id="17" name="Text 10"/>
          <p:cNvSpPr/>
          <p:nvPr/>
        </p:nvSpPr>
        <p:spPr>
          <a:xfrm>
            <a:off x="7452360" y="374904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FALSE NEGATIVES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7635240" y="4297680"/>
            <a:ext cx="3547872" cy="9144"/>
          </a:xfrm>
          <a:prstGeom prst="rect">
            <a:avLst/>
          </a:prstGeom>
          <a:solidFill>
            <a:srgbClr val="1E2A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7543800" y="4480560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the default 0.50 to the optimized threshold cut missed disease cases substantially, with only a small trade-off in Precision — exactly the right exchange in a screening context.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— SHAP Feature Importance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5544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attributes each feature's contribution to individual predictions — consistent, locally accurate, and comparable across model types.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15200" y="2697480"/>
            <a:ext cx="4343400" cy="1920240"/>
          </a:xfrm>
          <a:prstGeom prst="roundRect">
            <a:avLst>
              <a:gd name="adj" fmla="val 4286"/>
            </a:avLst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29260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65008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ALIGNMENT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571232" y="3429000"/>
            <a:ext cx="3831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SHAP-ranked features align closely with established clinical risk factors — a strong signal the model learned genuine predictive signal rather than spurious correlations.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315200" y="484632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blood glucose level, BMI, and age — each consistently shifting predictions across the full test set.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Ablation Study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ablation systematically removes one feature at a time and re-evaluates the model — measuring actual performance impact rather than relying on correlation alone.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94360" cy="594360"/>
          </a:xfrm>
          <a:prstGeom prst="ellipse">
            <a:avLst/>
          </a:prstGeom>
          <a:solidFill>
            <a:srgbClr val="F5A623">
              <a:alpha val="13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7157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Glucose Level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performance drop when removed (~4.1% accuracy, ~0.031 ROC-AUC) — confirmed as non-redundant.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2860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36008" y="2560320"/>
            <a:ext cx="594360" cy="594360"/>
          </a:xfrm>
          <a:prstGeom prst="ellipse">
            <a:avLst/>
          </a:prstGeom>
          <a:solidFill>
            <a:srgbClr val="6C63FF">
              <a:alpha val="13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7157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337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+ HbA1c Together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36008" y="3858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both caused a larger drop than either alone — they carry complementary, not duplicate, signal.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74736" y="22860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49056" y="2560320"/>
            <a:ext cx="594360" cy="594360"/>
          </a:xfrm>
          <a:prstGeom prst="ellipse">
            <a:avLst/>
          </a:prstGeom>
          <a:solidFill>
            <a:srgbClr val="00D4AA">
              <a:alpha val="13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71576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3337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7-Feature Model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49056" y="38587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98.5% of full-model ROC-AUC — a cleaner, more deployment-ready configuration.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Smoking History had minimal impact (&lt; 0.4% accuracy change), suggesting it can be dropped from a production model without meaningful loss.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1051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Voting Classifier consistently outperforms all individual models on every metric — ensemble stability more than compensates for any single model's ceiling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81051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169164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search improved Gradient Boosting ROC-AUC by 0.018 over default parameters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12724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832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264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reduced false negatives by ~15% with a negligible Precision trade-off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17920" y="312724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38328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03720" y="3264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rankings match established clinical risk factor literature, validating genuine predictive signal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470001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956048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83717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ablation identified one redundant feature, simplifying the deployment pipeline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17920" y="4700016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95604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03720" y="483717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showed low variance across folds (±0.8% accuracy), confirming the model generalizes well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APPLICATIONS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2066544"/>
            <a:ext cx="329184" cy="329184"/>
          </a:xfrm>
          <a:prstGeom prst="ellipse">
            <a:avLst/>
          </a:prstGeom>
          <a:solidFill>
            <a:srgbClr val="00D4A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9476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diagnostic centers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94944" y="2724912"/>
            <a:ext cx="329184" cy="329184"/>
          </a:xfrm>
          <a:prstGeom prst="ellipse">
            <a:avLst/>
          </a:prstGeom>
          <a:solidFill>
            <a:srgbClr val="00D4A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07208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6060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decision support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264408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94944" y="3383280"/>
            <a:ext cx="329184" cy="329184"/>
          </a:xfrm>
          <a:prstGeom prst="ellipse">
            <a:avLst/>
          </a:prstGeom>
          <a:solidFill>
            <a:srgbClr val="00D4A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6557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26440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healthcare &amp; risk assessment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922776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94944" y="4041648"/>
            <a:ext cx="329184" cy="329184"/>
          </a:xfrm>
          <a:prstGeom prst="ellipse">
            <a:avLst/>
          </a:prstGeom>
          <a:solidFill>
            <a:srgbClr val="00D4A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23944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9227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platforms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81144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94944" y="4700016"/>
            <a:ext cx="329184" cy="329184"/>
          </a:xfrm>
          <a:prstGeom prst="ellipse">
            <a:avLst/>
          </a:prstGeom>
          <a:solidFill>
            <a:srgbClr val="00D4AA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82312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458114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172200" y="1508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A7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172200" y="194767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318504" y="2066544"/>
            <a:ext cx="329184" cy="329184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148840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66560" y="19476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(ANNs, Transformers)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172200" y="26060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318504" y="2724912"/>
            <a:ext cx="329184" cy="329184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807208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66560" y="26060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via FastAPI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172200" y="3264408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6318504" y="3383280"/>
            <a:ext cx="329184" cy="329184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465576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766560" y="32644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 / GCP)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172200" y="392277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6318504" y="4041648"/>
            <a:ext cx="329184" cy="329184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123944"/>
            <a:ext cx="164592" cy="16459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66560" y="39227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system integration</a:t>
            </a:r>
            <a:endParaRPr lang="en-US" sz="1250" dirty="0"/>
          </a:p>
        </p:txBody>
      </p:sp>
      <p:sp>
        <p:nvSpPr>
          <p:cNvPr id="42" name="Shape 31"/>
          <p:cNvSpPr/>
          <p:nvPr/>
        </p:nvSpPr>
        <p:spPr>
          <a:xfrm>
            <a:off x="6172200" y="4581144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1E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2"/>
          <p:cNvSpPr/>
          <p:nvPr/>
        </p:nvSpPr>
        <p:spPr>
          <a:xfrm>
            <a:off x="6318504" y="4700016"/>
            <a:ext cx="329184" cy="329184"/>
          </a:xfrm>
          <a:prstGeom prst="ellipse">
            <a:avLst/>
          </a:prstGeom>
          <a:solidFill>
            <a:srgbClr val="6C63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782312"/>
            <a:ext cx="164592" cy="16459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6766560" y="45811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 across patient subgroups</a:t>
            </a:r>
            <a:endParaRPr lang="en-US" sz="1250" dirty="0"/>
          </a:p>
        </p:txBody>
      </p:sp>
      <p:sp>
        <p:nvSpPr>
          <p:cNvPr id="4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NovaGen Research Labs · Healthcare Disease Prediction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834640"/>
            <a:ext cx="6583680" cy="6583680"/>
          </a:xfrm>
          <a:prstGeom prst="ellipse">
            <a:avLst/>
          </a:prstGeom>
          <a:solidFill>
            <a:srgbClr val="00D4AA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19565" y="-2110435"/>
            <a:ext cx="5135270" cy="5135270"/>
          </a:xfrm>
          <a:prstGeom prst="ellipse">
            <a:avLst/>
          </a:prstGeom>
          <a:solidFill>
            <a:srgbClr val="00D4AA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43770" y="-1386230"/>
            <a:ext cx="3686861" cy="3686861"/>
          </a:xfrm>
          <a:prstGeom prst="ellipse">
            <a:avLst/>
          </a:prstGeom>
          <a:solidFill>
            <a:srgbClr val="00D4AA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02138" y="-727862"/>
            <a:ext cx="2370125" cy="2370125"/>
          </a:xfrm>
          <a:prstGeom prst="ellipse">
            <a:avLst/>
          </a:prstGeom>
          <a:solidFill>
            <a:srgbClr val="00D4AA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294669" y="-135331"/>
            <a:ext cx="1185062" cy="1185062"/>
          </a:xfrm>
          <a:prstGeom prst="ellipse">
            <a:avLst/>
          </a:prstGeom>
          <a:solidFill>
            <a:srgbClr val="00D4AA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-2651760" y="3474720"/>
            <a:ext cx="6217920" cy="6217920"/>
          </a:xfrm>
          <a:prstGeom prst="ellipse">
            <a:avLst/>
          </a:prstGeom>
          <a:solidFill>
            <a:srgbClr val="6C63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-1967789" y="4158691"/>
            <a:ext cx="4849978" cy="4849978"/>
          </a:xfrm>
          <a:prstGeom prst="ellipse">
            <a:avLst/>
          </a:prstGeom>
          <a:solidFill>
            <a:srgbClr val="6C63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1283818" y="4842662"/>
            <a:ext cx="3482035" cy="3482035"/>
          </a:xfrm>
          <a:prstGeom prst="ellipse">
            <a:avLst/>
          </a:prstGeom>
          <a:solidFill>
            <a:srgbClr val="6C63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662026" y="5464454"/>
            <a:ext cx="2238451" cy="2238451"/>
          </a:xfrm>
          <a:prstGeom prst="ellipse">
            <a:avLst/>
          </a:prstGeom>
          <a:solidFill>
            <a:srgbClr val="6C63FF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-102413" y="6024067"/>
            <a:ext cx="1119226" cy="1119226"/>
          </a:xfrm>
          <a:prstGeom prst="ellipse">
            <a:avLst/>
          </a:prstGeom>
          <a:solidFill>
            <a:srgbClr val="6C63FF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2801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Deployment-Ready Framework for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Decision Support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complete, production-oriented ML pipeline for healthcare disease prediction — accurate, interpretable, and reliable through robust preprocessing, multiple classification algorithms, hyperparameter optimization, cross-validation, threshold tuning, and Explainable AI. Ensemble methods proved most effective, while SHAP explanations and feature importance analysis increased transparency and trust.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9052560" cy="685800"/>
          </a:xfrm>
          <a:prstGeom prst="roundRect">
            <a:avLst>
              <a:gd name="adj" fmla="val 10667"/>
            </a:avLst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8912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76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clinical decision-making but does not replace professional medical diagnosis.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578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98448" y="5257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github.com/erharshkumar/NovaGen-Research-Labs-Healthcare-Disease-Prediction-Using-Machine-Learning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  ·  harshkumar.in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1222</Words>
  <Application>Microsoft Office PowerPoint</Application>
  <PresentationFormat>Widescreen</PresentationFormat>
  <Paragraphs>228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NovaGen Research Labs: Healthcare Disease Prediction Using Machine Learning</dc:title>
  <dc:subject>PptxGenJS Presentation</dc:subject>
  <dc:creator>Harsh Kumar</dc:creator>
  <cp:lastModifiedBy>hk821064</cp:lastModifiedBy>
  <cp:revision>2</cp:revision>
  <dcterms:created xsi:type="dcterms:W3CDTF">2026-07-01T00:43:46Z</dcterms:created>
  <dcterms:modified xsi:type="dcterms:W3CDTF">2026-07-01T00:46:59Z</dcterms:modified>
</cp:coreProperties>
</file>